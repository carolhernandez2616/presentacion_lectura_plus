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27"/>
      <p:bold r:id="rId28"/>
      <p: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20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849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88d5be92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88d5be92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88d5be92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88d5be92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88d5be92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88d5be92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88d5be92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88d5be92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88d5be921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88d5be921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8d5be92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88d5be92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637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322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852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989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624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285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222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64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877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317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549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856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59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7047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8d5be92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8d5be92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94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58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512116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1036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486210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9336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99892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95410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3313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948123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577921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9212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2091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824882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0768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2069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74130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962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66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9292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BASE DE DATOS</a:t>
            </a:r>
            <a:endParaRPr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LecturaPlus</a:t>
            </a:r>
            <a:endParaRPr b="1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s-419" sz="2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s-419" sz="2400" b="1" dirty="0"/>
              <a:t>Nombre</a:t>
            </a:r>
            <a:r>
              <a:rPr lang="es-419" sz="2400" dirty="0"/>
              <a:t>: Carol Hernandez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s-419" sz="2400" b="1" dirty="0"/>
              <a:t>Ficha</a:t>
            </a:r>
            <a:r>
              <a:rPr lang="es-419" sz="2400" dirty="0"/>
              <a:t>: 3275760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010C63-ED83-BDBE-8406-96DB0AB833CB}"/>
              </a:ext>
            </a:extLst>
          </p:cNvPr>
          <p:cNvSpPr txBox="1"/>
          <p:nvPr/>
        </p:nvSpPr>
        <p:spPr>
          <a:xfrm>
            <a:off x="731520" y="1299448"/>
            <a:ext cx="78536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PROBLEMÁTICA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La empresa </a:t>
            </a:r>
            <a:r>
              <a:rPr lang="es-ES" b="1" dirty="0"/>
              <a:t>LecturaPlus</a:t>
            </a:r>
            <a:r>
              <a:rPr lang="es-ES" dirty="0"/>
              <a:t> presenta dificultades para controlar y administrar los préstamos de libros, lectores, autores y devoluciones de manera organizada.</a:t>
            </a:r>
          </a:p>
        </p:txBody>
      </p:sp>
    </p:spTree>
    <p:extLst>
      <p:ext uri="{BB962C8B-B14F-4D97-AF65-F5344CB8AC3E}">
        <p14:creationId xmlns:p14="http://schemas.microsoft.com/office/powerpoint/2010/main" val="226570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ENTIDADES</a:t>
            </a:r>
            <a:endParaRPr b="1"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1247399" y="1221200"/>
            <a:ext cx="3966857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/>
              <a:t>AUTOR</a:t>
            </a:r>
            <a:endParaRPr sz="24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/>
              <a:t>CATEGORIA</a:t>
            </a:r>
            <a:endParaRPr sz="24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/>
              <a:t>LIBRO</a:t>
            </a:r>
            <a:endParaRPr sz="24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>
                <a:highlight>
                  <a:srgbClr val="C0C0C0"/>
                </a:highlight>
              </a:rPr>
              <a:t>LIBRO_AUTOR</a:t>
            </a:r>
            <a:endParaRPr sz="2400" dirty="0">
              <a:highlight>
                <a:srgbClr val="C0C0C0"/>
              </a:highlight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/>
              <a:t>LECTOR</a:t>
            </a:r>
            <a:endParaRPr sz="24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/>
              <a:t>PRESTAMO</a:t>
            </a:r>
            <a:endParaRPr sz="24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400" dirty="0">
                <a:highlight>
                  <a:srgbClr val="C0C0C0"/>
                </a:highlight>
              </a:rPr>
              <a:t>DETALLE_PRESTAMO</a:t>
            </a:r>
            <a:endParaRPr sz="2400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1093650" y="1247250"/>
            <a:ext cx="5339807" cy="273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AUTOR</a:t>
            </a:r>
            <a:endParaRPr sz="2400"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IdAutor de tipo Entero  -PK</a:t>
            </a:r>
            <a:endParaRPr lang="es-ES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400" dirty="0"/>
              <a:t>Nombres de tipo Texto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Apellidos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Nacionalidad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Fecha de Nacimiento de tipo Fecha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1276100" y="13602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CATEGORIA</a:t>
            </a:r>
            <a:endParaRPr sz="2400"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IdCategoria de tipo Entero -PK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Nombre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Descripcion de tipo Texto</a:t>
            </a:r>
            <a:endParaRPr sz="24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975729" y="1197218"/>
            <a:ext cx="59367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LIBRO</a:t>
            </a:r>
            <a:endParaRPr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IdLibro de tipo Entero -PK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Titulo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Categoria de tipo Entero - FK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ISBN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AnoPublicacion de tipo </a:t>
            </a:r>
            <a:r>
              <a:rPr lang="es-ES" sz="2400" dirty="0"/>
              <a:t>Fecha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CantidadDisponible de tipo Entero</a:t>
            </a:r>
            <a:endParaRPr sz="24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823328" y="1306075"/>
            <a:ext cx="5109385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LIBRO_AUTOR</a:t>
            </a:r>
            <a:endParaRPr sz="2400"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IdLibroAutor de tipo Entero -PK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IdLibro de tipo Entero -FK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IdAutor de tipo Entero -FK</a:t>
            </a:r>
            <a:endParaRPr sz="24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855985" y="1251646"/>
            <a:ext cx="5207358" cy="2961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LECTOR</a:t>
            </a:r>
            <a:endParaRPr sz="2400"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IdLector de tipo Entero -PK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NumDocumento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Nombres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Apellidos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Correo de tipo Texto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Telefono de tipo Texto</a:t>
            </a:r>
            <a:endParaRPr sz="24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790671" y="1240761"/>
            <a:ext cx="64785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PRESTAMO</a:t>
            </a:r>
            <a:endParaRPr sz="2400"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IdPrestamo de tipo Entero -PK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IdLector de tipo Entero - FK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FechaPrestamo de tipo Fecha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FechaDevolucionEstimada de tipo Fecha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FechaDevolucion de tipo Fecha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Estado de tipo Texto</a:t>
            </a:r>
            <a:endParaRPr sz="24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ATRIBUTOS</a:t>
            </a:r>
            <a:endParaRPr b="1"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23329" y="1273418"/>
            <a:ext cx="64785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/>
              <a:t>DETALLE_PRESTAMO</a:t>
            </a:r>
            <a:endParaRPr sz="2400"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IdDetallePrestamo de tipo Entero -PK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IdLibro de tipo Entero - FK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/>
              <a:t>Idprestamo de tipo Entero - FK</a:t>
            </a: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11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09999"/>
            <a:ext cx="8745214" cy="1320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MODELO CONCEPTUAL</a:t>
            </a:r>
            <a:br>
              <a:rPr lang="es-419" b="1" dirty="0"/>
            </a:br>
            <a:br>
              <a:rPr lang="es-419" b="1" dirty="0"/>
            </a:br>
            <a:br>
              <a:rPr lang="es-419" b="1" dirty="0"/>
            </a:br>
            <a:br>
              <a:rPr lang="es-419" b="1" dirty="0"/>
            </a:br>
            <a:endParaRPr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D1EF9D-44BF-3118-6A7E-0A221CF05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75" y="1742908"/>
            <a:ext cx="6608717" cy="2560924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DF018E7-7C52-49C7-F16B-653F03CF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412" y="2033991"/>
            <a:ext cx="4014045" cy="2759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093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2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2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2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2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2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2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887185-BB59-043A-76EE-962D93953575}"/>
              </a:ext>
            </a:extLst>
          </p:cNvPr>
          <p:cNvSpPr txBox="1"/>
          <p:nvPr/>
        </p:nvSpPr>
        <p:spPr>
          <a:xfrm>
            <a:off x="2307771" y="2743200"/>
            <a:ext cx="1567543" cy="1045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773046C-EE19-78A3-FA2E-360E702B8736}"/>
              </a:ext>
            </a:extLst>
          </p:cNvPr>
          <p:cNvSpPr txBox="1"/>
          <p:nvPr/>
        </p:nvSpPr>
        <p:spPr>
          <a:xfrm>
            <a:off x="1635760" y="1070413"/>
            <a:ext cx="638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 el qué. Identifica entidades y sus relaciones a nivel de negocio.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45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MODELO LÓGICO</a:t>
            </a:r>
            <a:endParaRPr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F80C02-222C-39B6-2D1D-A984E5182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4" y="1778000"/>
            <a:ext cx="7336971" cy="279674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1D7E4ED-C769-E513-7068-BCDC63282797}"/>
              </a:ext>
            </a:extLst>
          </p:cNvPr>
          <p:cNvSpPr txBox="1"/>
          <p:nvPr/>
        </p:nvSpPr>
        <p:spPr>
          <a:xfrm>
            <a:off x="1320800" y="1017800"/>
            <a:ext cx="639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transforma el modelo conceptual en una estructura más organizada y técnica con sus respectivas cardinalidades.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809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38968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MODELO FÍSICO</a:t>
            </a:r>
            <a:endParaRPr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A8336A0-9D2E-FC5F-B56D-258E457296DE}"/>
              </a:ext>
            </a:extLst>
          </p:cNvPr>
          <p:cNvSpPr txBox="1"/>
          <p:nvPr/>
        </p:nvSpPr>
        <p:spPr>
          <a:xfrm>
            <a:off x="1422400" y="1381760"/>
            <a:ext cx="6360160" cy="2357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5440AB-E23B-8D0F-720D-70BA2093E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449" y="1969978"/>
            <a:ext cx="5630061" cy="250542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EA85050-D205-8FCE-CC64-CE691BB2D33E}"/>
              </a:ext>
            </a:extLst>
          </p:cNvPr>
          <p:cNvSpPr txBox="1"/>
          <p:nvPr/>
        </p:nvSpPr>
        <p:spPr>
          <a:xfrm>
            <a:off x="944880" y="997480"/>
            <a:ext cx="706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Es la implementación. Adapta el modelo lógico a un sistema gestor específico (como SQL Server, Oracle, o PostgreSQL) indicando el lenguaje exacto y optimizaciones técnicas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37927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A8336A0-9D2E-FC5F-B56D-258E457296DE}"/>
              </a:ext>
            </a:extLst>
          </p:cNvPr>
          <p:cNvSpPr txBox="1"/>
          <p:nvPr/>
        </p:nvSpPr>
        <p:spPr>
          <a:xfrm>
            <a:off x="1422400" y="1381760"/>
            <a:ext cx="6360160" cy="2357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396EB8-1DCA-295A-754A-35B7F443C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00" y="952274"/>
            <a:ext cx="6620799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1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A8336A0-9D2E-FC5F-B56D-258E457296DE}"/>
              </a:ext>
            </a:extLst>
          </p:cNvPr>
          <p:cNvSpPr txBox="1"/>
          <p:nvPr/>
        </p:nvSpPr>
        <p:spPr>
          <a:xfrm>
            <a:off x="1422400" y="1381760"/>
            <a:ext cx="6360160" cy="2357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C2B3B6-E571-5CB6-9059-AF90F0CF5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665501"/>
            <a:ext cx="5984240" cy="38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51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A8336A0-9D2E-FC5F-B56D-258E457296DE}"/>
              </a:ext>
            </a:extLst>
          </p:cNvPr>
          <p:cNvSpPr txBox="1"/>
          <p:nvPr/>
        </p:nvSpPr>
        <p:spPr>
          <a:xfrm>
            <a:off x="1422400" y="1381760"/>
            <a:ext cx="6360160" cy="2357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C2B3B6-E571-5CB6-9059-AF90F0CF5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665501"/>
            <a:ext cx="5984240" cy="38124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032AF4-3ECD-E2BE-6FB0-EB134389A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68" y="566457"/>
            <a:ext cx="689706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6E4504-B28B-E916-2614-7B6328EE72D7}"/>
              </a:ext>
            </a:extLst>
          </p:cNvPr>
          <p:cNvSpPr txBox="1"/>
          <p:nvPr/>
        </p:nvSpPr>
        <p:spPr>
          <a:xfrm>
            <a:off x="228599" y="544788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PROCEDIMIENTOS ALMACENADOS</a:t>
            </a:r>
            <a:endParaRPr lang="es-CO" sz="36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3E3089-49CD-A6A1-78AB-AB73FFB55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153" y="1659037"/>
            <a:ext cx="6401693" cy="269257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235AF85-10FD-C877-9F9D-1CA01CE5695E}"/>
              </a:ext>
            </a:extLst>
          </p:cNvPr>
          <p:cNvSpPr txBox="1"/>
          <p:nvPr/>
        </p:nvSpPr>
        <p:spPr>
          <a:xfrm>
            <a:off x="3012439" y="1240412"/>
            <a:ext cx="311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INSERTAR LECTOR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778651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07E905-FD2E-135A-FE89-C3C0F526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33" y="1108835"/>
            <a:ext cx="6413454" cy="31699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84D642B-5A7D-4DB9-3617-2615987C5A3C}"/>
              </a:ext>
            </a:extLst>
          </p:cNvPr>
          <p:cNvSpPr txBox="1"/>
          <p:nvPr/>
        </p:nvSpPr>
        <p:spPr>
          <a:xfrm>
            <a:off x="2794000" y="680079"/>
            <a:ext cx="337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INSERTAR CATEGORÍA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312918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FFDD72-5EB1-FDE6-268A-7C1FFD82E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40" y="1019572"/>
            <a:ext cx="6837680" cy="324104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D5D9402-E944-D23E-7745-73A62B5599C8}"/>
              </a:ext>
            </a:extLst>
          </p:cNvPr>
          <p:cNvSpPr txBox="1"/>
          <p:nvPr/>
        </p:nvSpPr>
        <p:spPr>
          <a:xfrm>
            <a:off x="2844800" y="650240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INSERTAR</a:t>
            </a:r>
            <a:r>
              <a:rPr lang="es-ES" dirty="0"/>
              <a:t> LIBRO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50747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AE06D-BF62-6E3B-BE38-417C12669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" y="917663"/>
            <a:ext cx="6156959" cy="308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1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B08D57-DE7E-C431-8BA1-5D5B0869A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05" y="976630"/>
            <a:ext cx="7267990" cy="31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00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5C3B61-EFB2-6D13-78ED-507DB2573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1595355"/>
            <a:ext cx="6614160" cy="28674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3010C63-ED83-BDBE-8406-96DB0AB833CB}"/>
              </a:ext>
            </a:extLst>
          </p:cNvPr>
          <p:cNvSpPr txBox="1"/>
          <p:nvPr/>
        </p:nvSpPr>
        <p:spPr>
          <a:xfrm>
            <a:off x="1706880" y="1100910"/>
            <a:ext cx="573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Mostrar préstamos con nombre del lector y libros prestados.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98CEB6-2C3F-73F5-187B-88FF76B07297}"/>
              </a:ext>
            </a:extLst>
          </p:cNvPr>
          <p:cNvSpPr txBox="1"/>
          <p:nvPr/>
        </p:nvSpPr>
        <p:spPr>
          <a:xfrm>
            <a:off x="1676400" y="680720"/>
            <a:ext cx="506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CONSULTAS UTILIZANDO INNER JOIN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1134312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010C63-ED83-BDBE-8406-96DB0AB833CB}"/>
              </a:ext>
            </a:extLst>
          </p:cNvPr>
          <p:cNvSpPr txBox="1"/>
          <p:nvPr/>
        </p:nvSpPr>
        <p:spPr>
          <a:xfrm>
            <a:off x="2438400" y="760968"/>
            <a:ext cx="610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Mostrar autores y libros por categoría.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D8767E-F1A3-616B-3D2D-B898B075A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442880"/>
            <a:ext cx="6106160" cy="25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43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1C4A66-B4F1-85BE-FFC9-6EDE85E3B795}"/>
              </a:ext>
            </a:extLst>
          </p:cNvPr>
          <p:cNvSpPr txBox="1"/>
          <p:nvPr/>
        </p:nvSpPr>
        <p:spPr>
          <a:xfrm>
            <a:off x="2307771" y="1948543"/>
            <a:ext cx="1175658" cy="5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010C63-ED83-BDBE-8406-96DB0AB833CB}"/>
              </a:ext>
            </a:extLst>
          </p:cNvPr>
          <p:cNvSpPr txBox="1"/>
          <p:nvPr/>
        </p:nvSpPr>
        <p:spPr>
          <a:xfrm>
            <a:off x="2499360" y="832088"/>
            <a:ext cx="610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Mostrar lectores con préstamos activos.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9E2D84-204D-1252-AB54-39FC9D4DE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" y="1523854"/>
            <a:ext cx="6431279" cy="224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328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253</TotalTime>
  <Words>328</Words>
  <Application>Microsoft Office PowerPoint</Application>
  <PresentationFormat>Presentación en pantalla (16:9)</PresentationFormat>
  <Paragraphs>91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Garamond</vt:lpstr>
      <vt:lpstr>Arial</vt:lpstr>
      <vt:lpstr>Google Sans</vt:lpstr>
      <vt:lpstr>Orgánico</vt:lpstr>
      <vt:lpstr>BASE DE DATOS LecturaPlus</vt:lpstr>
      <vt:lpstr>Presentación de PowerPoint</vt:lpstr>
      <vt:lpstr>ENTIDADES</vt:lpstr>
      <vt:lpstr>ATRIBUTOS</vt:lpstr>
      <vt:lpstr>ATRIBUTOS</vt:lpstr>
      <vt:lpstr>ATRIBUTOS</vt:lpstr>
      <vt:lpstr>ATRIBUTOS</vt:lpstr>
      <vt:lpstr>ATRIBUTOS</vt:lpstr>
      <vt:lpstr>ATRIBUTOS</vt:lpstr>
      <vt:lpstr>ATRIBUTOS</vt:lpstr>
      <vt:lpstr>MODELO CONCEPTUAL    </vt:lpstr>
      <vt:lpstr>MODELO LÓGICO</vt:lpstr>
      <vt:lpstr>MODELO FÍSICO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DE DATOS LecturaPlus</dc:title>
  <dc:creator>Carol</dc:creator>
  <cp:lastModifiedBy>Carol</cp:lastModifiedBy>
  <cp:revision>9</cp:revision>
  <dcterms:modified xsi:type="dcterms:W3CDTF">2026-05-25T05:22:25Z</dcterms:modified>
</cp:coreProperties>
</file>